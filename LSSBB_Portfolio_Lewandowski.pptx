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Blood Draws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478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Current</c:v>
                  </c:pt>
                  <c:pt idx="1">
                    <c:v>Goal (1,100/lab min)</c:v>
                  </c:pt>
                  <c:pt idx="2">
                    <c:v>Stretch (Lab 5 avg)</c:v>
                  </c:pt>
                  <c:pt idx="3">
                    <c:v>Max Theoretical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141708</c:v>
                </c:pt>
                <c:pt idx="1">
                  <c:v>159876</c:v>
                </c:pt>
                <c:pt idx="2">
                  <c:v>172800</c:v>
                </c:pt>
                <c:pt idx="3">
                  <c:v>179136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SIX SIGMA BLACK BELT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Lab Operations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Lean Six Sigma Application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7315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Lewandowski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Q2 2024   |   TriCore Reference Laboratories   |   Siena Heights University PDC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Blackbelt Validation Project — Case Study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RESULTS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8745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$894K+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95728" y="105156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95728" y="1051560"/>
            <a:ext cx="1874520" cy="1097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325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87168" y="23774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17136" y="105156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7136" y="1051560"/>
            <a:ext cx="1874520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325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→ 2.9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08576" y="23774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38544" y="105156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38544" y="1051560"/>
            <a:ext cx="18745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1325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Labs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29984" y="237744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Labs Tested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TriCore Reference Laboratories  ·  12 Labs Across New Mexico  ·  DMAIC Methodology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The Challenge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120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TriCore Medical Laboratories conducted 141,708 blood draws per year across 12 labs — but peak performance showed potential for 188,928. Daily throughput ranged from as low as 33 draws to 54 at top performance, a 21-draw daily variance.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cost $400–$1,050 per lab per day, compounded overtime hours, and risked loss of federal Hill Burton Act funding.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960120"/>
            <a:ext cx="3063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0332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141,708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52160" y="16184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draws/year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3063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231343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188,928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52160" y="28986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potential/year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3520440"/>
            <a:ext cx="3063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359359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$5–6M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417880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Poor Quality (COPQ)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4251960"/>
            <a:ext cx="30632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4251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COPQ exceeds Hill Burton Act risk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  ·  TriCore Reference Laboratories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TriCore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1998, headquartered in Albuquerque, NM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 entity, ~$1.5B revenue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2,200+ employees across New Mexico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medical laboratory in New Mexico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by merger of Presbyterian Healthcare, UNM Health Sciences, and The Reference Laboratory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scope: 12 Reference Lab locations, blood draw operations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Performance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Burton Act federal funding at risk ($5–8M/year)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Malpractice exposure ($50K minimum per case)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and overtime costs at 6% of operational budget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hospital throughput: 2–4% fewer patients served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length-of-stay cost: $1,100/unbilled day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outperformed other 11 labs — root cause unknown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 METHODOLOGY  ·  Operational Blueprint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45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1645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history &amp; interviews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 (CTS)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COPQ analysis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timing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960120"/>
            <a:ext cx="1645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20240" y="960120"/>
            <a:ext cx="164592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50876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 collection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Sigma level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Gage R&amp;R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ratio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yield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Spec/unit of measure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960120"/>
            <a:ext cx="1645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960120"/>
            <a:ext cx="164592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150876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C&amp;E matrix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tools (T-Test)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of interest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960120"/>
            <a:ext cx="1645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960120"/>
            <a:ext cx="16459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50876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new approach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training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experiments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policy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new SWI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new UCL/LCL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960120"/>
            <a:ext cx="1645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0" y="960120"/>
            <a:ext cx="164592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150876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 baseline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management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implementation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project scope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tracking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driven by physician, hospital, lab, phlebotomist, and patient needs — led by senior management (Mr. Antonis, Director of Laboratory Services)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ANALYZE  ·  Root Cause Discovery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Lab Process Types Identified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682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 draws / Tech B processes (sequential hand-off)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67712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&amp; B both draw and process simultaneously (two lanes)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072384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&amp; B draw, then process together toward end of shift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877056"/>
            <a:ext cx="50292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895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 ★ (Best)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&amp; B draw, process at end of shift WITH receptionist support on Type 3 (Lab 5 — best performer)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960120"/>
            <a:ext cx="406908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960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Process Maps &amp; Lean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463040"/>
            <a:ext cx="3794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over-processing: manual check-in vs. kiosk or lab tech triage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draw/process split adds wait time vs. parallel two-lane flow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batching creates repeated over-processing across all labs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Receptionists NOT assisting with Type 3 labels — Lab 5 does this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lower spec limit — no accountability for minimum performance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methods across labs drive inter-lab variance of 199–328 draws/week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waste: Transport, Wait Time, Over-processing, Defects all present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 ·  Statistical Approach &amp; Hypothesis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(H₀)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changes from adopting the Lab 5 process — receptionist support, two-lane workflow, and batch processing — will NOT be statistically significant.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31720"/>
            <a:ext cx="265176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Tool Selected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926080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means of pre- and post-treatment performance in the same set of 30 randomly sampled labs. Selected over ANOVA and regression for its precision with paired pilot experiment design.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331720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33172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926080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4, 8 &amp; 9 selected as pilot sites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random samples each: current process vs. Lab 5 process applied. Two days of training, four field observation days (Weeks 1 and 2). Minitab used for all statistical analysis.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331720"/>
            <a:ext cx="265176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4688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2926080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 validated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must extrapolate across all 11 underperforming labs before company-wide rollout is authorized.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 ·  Pilot Experiment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REJECTED — All 3 pilot labs achieved statistically significant improvement at 95% confidence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 min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processing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47857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 min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15544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6227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faster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192024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92024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7249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 min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processing 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47857"/>
                </a:solidFill>
              </a:rPr>
              <a:t>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91840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 min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703320" y="4462272"/>
            <a:ext cx="15544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446227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faster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192024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92024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722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7249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 min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7220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processing 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47857"/>
                </a:solidFill>
              </a:rPr>
              <a:t>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172200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 min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6583680" y="4462272"/>
            <a:ext cx="15544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46227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faster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OPERATIONAL IMPACT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14400"/>
            <a:ext cx="91440" cy="11430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9875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+17,892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76072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draws/year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12 labs (goal)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19456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194560"/>
            <a:ext cx="91440" cy="1143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2677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$894,600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76072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per year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347472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3474720"/>
            <a:ext cx="9144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5478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→ 2.9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76072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improvement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(Stretch: 3.2)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$50/draw revenue basis  ·  288 operating days/year/lab  ·  12 laboratories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·  Sustaining the Improvement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Work Instructions (SWI)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23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Lab 5 process as enterprise standard for all 12 labs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duties redefined to include Type 3 label support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followed consistently — materials stored identically across sites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handbook updated with new hiring requirements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269748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96012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&amp; Visual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508760"/>
            <a:ext cx="2423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labeled and organized per new standard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indicators visible at each station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posted and updated daily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job aids for each role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71616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960120"/>
            <a:ext cx="269748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96012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Stretch Goals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1508760"/>
            <a:ext cx="2423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back office processing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scheduling (Phase 2 project)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kiosks; migrate receptionists to phlebotomist roles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Quality Officer for field coaching and metric oversight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target: Lab 5 weekly high of 328 draws as new standard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&amp; SKILLS DEMONSTRATED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Lewandowski — LSSBB Practitioner &amp; Process Improvement Leader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32104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real client engagement — actual data, real operations, validated conclusions. The same tools and methods applied here are what I bring to your organization.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4114800" cy="2468880"/>
          </a:xfrm>
          <a:prstGeom prst="rect">
            <a:avLst/>
          </a:prstGeom>
          <a:solidFill>
            <a:srgbClr val="2D3B7A"/>
          </a:solidFill>
          <a:ln w="12700">
            <a:solidFill>
              <a:srgbClr val="3D50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84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3840480" cy="1966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full DMAIC methodology across all five phases — Define through Control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180+ data points across 12 labs over 12 field observation days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3-lab pilot experiment using two-sample T-test (95% CI)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root cause analysis: C&amp;E matrix, FMEA, process mapping, Lean waste review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findings presentation to Director of Laboratory Services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SWI and employee handbook development for company-wide rollout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011680"/>
            <a:ext cx="3931920" cy="2468880"/>
          </a:xfrm>
          <a:prstGeom prst="rect">
            <a:avLst/>
          </a:prstGeom>
          <a:solidFill>
            <a:srgbClr val="2D3B7A"/>
          </a:solidFill>
          <a:ln w="12700">
            <a:solidFill>
              <a:srgbClr val="3D5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Applied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Management: </a:t>
            </a:r>
            <a:pPr indent="0" marL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milestone planning, stakeholder management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28895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Six Sigma: </a:t>
            </a:r>
            <a:pPr indent="0" marL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DMAIC, SWI, 5S, VSM, C&amp;E, FMEA, Gage R&amp;R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33284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Analysis: </a:t>
            </a:r>
            <a:pPr indent="0" marL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T-test, Minitab, hypothesis testing, confidence intervals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3767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Improvement: </a:t>
            </a:r>
            <a:pPr indent="0" marL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 analysis, swim lane mapping, waste elimination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Management: </a:t>
            </a:r>
            <a:pPr indent="0" marL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SOP development, company-wide rollout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572000"/>
            <a:ext cx="832104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Client Engagement  ·  Siena Heights University PDC  ·  MBB Senseis: Dr. Ben Benson &amp; Mr. Phil White  ·  Q2 2024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 ·  Running the Engagement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23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Director-level sponsorship (Mr. Antonis) from day one kept a 4-week, 12-lab engagement on schedule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180+ field observations with direct interviews surfaced the Lab 5 outlier pattern faster than data alone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process change on 3 pilot labs with a two-sample T-test gave leadership a statistically defensible go/no-go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presented directly to the Director of Laboratory Services kept executive sponsorship engaged through rollout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269748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96012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508760"/>
            <a:ext cx="2423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Pilot-before-scale is worth defaulting to on any multi-site rollout, not only when time allows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interviews belong in Define, not as a supplement added after baseline data collection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sustainment plan is only as strong as the adherence check built into its charter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turns a process recommendation into a leadership decision, not just an analyst's opinion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71616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960120"/>
            <a:ext cx="269748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96012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Into Future Engagements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1508760"/>
            <a:ext cx="2423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30/60/90-day adherence checkpoint into every Control plan charter up front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a reference-site pilot before any enterprise-wide standard-work rollout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quantitative baseline data with frontline interviews from the start, not sequentially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statistical validation as a standard deliverable for any before/after process claim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executive sponsorship visible through implementation, not just at kickoff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LSSBB Portfolio: Optimizing Lab Operations</dc:title>
  <dc:subject>PptxGenJS Presentation</dc:subject>
  <dc:creator>Lisa Lewandowski</dc:creator>
  <cp:lastModifiedBy>Lisa Lewandowski</cp:lastModifiedBy>
  <cp:revision>1</cp:revision>
  <dcterms:created xsi:type="dcterms:W3CDTF">2026-06-05T17:45:25Z</dcterms:created>
  <dcterms:modified xsi:type="dcterms:W3CDTF">2026-06-05T17:45:25Z</dcterms:modified>
</cp:coreProperties>
</file>