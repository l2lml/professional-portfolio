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Blood Draws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478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Current</c:v>
                  </c:pt>
                  <c:pt idx="1">
                    <c:v>Goal (1,100/lab min)</c:v>
                  </c:pt>
                  <c:pt idx="2">
                    <c:v>Stretch (Lab 5 avg)</c:v>
                  </c:pt>
                  <c:pt idx="3">
                    <c:v>Max Theoretical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141708</c:v>
                </c:pt>
                <c:pt idx="1">
                  <c:v>159876</c:v>
                </c:pt>
                <c:pt idx="2">
                  <c:v>172800</c:v>
                </c:pt>
                <c:pt idx="3">
                  <c:v>179136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SIX SIGMA BLACK BELT PROJECT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10058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Optimizing Lab Operations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21488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Lean Six Sigma Application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2834640"/>
            <a:ext cx="7315200" cy="36576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Lewandowski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Q2 2024   |   TriCore Reference Laboratories   |   Siena Heights University PDC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Blackbelt Validation Project — Case Study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RESULTS AT A GLANCE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18745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51560"/>
            <a:ext cx="187452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32588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$894K+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37744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Annual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Recovery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95728" y="1051560"/>
            <a:ext cx="18745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395728" y="1051560"/>
            <a:ext cx="1874520" cy="1097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87168" y="132588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487168" y="237744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Closed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17136" y="1051560"/>
            <a:ext cx="18745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17136" y="1051560"/>
            <a:ext cx="1874520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8576" y="132588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 → 2.9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608576" y="237744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Sigma Level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38544" y="1051560"/>
            <a:ext cx="18745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38544" y="1051560"/>
            <a:ext cx="1874520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9984" y="132588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Labs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729984" y="2377440"/>
            <a:ext cx="1691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Labs Tested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Validated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TriCore Reference Laboratories  ·  12 Labs Across New Mexico  ·  DMAIC Methodology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 ·  The Challenge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512064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51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TriCore Medical Laboratories conducted 141,708 blood draws per year across 12 labs — but peak performance showed potential for 188,928. Daily throughput ranged from as low as 33 draws to 54 at top performance, a 21-draw daily variance.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gap cost $400–$1,050 per lab per day, compounded overtime hours, and risked loss of federal Hill Burton Act funding.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760720" y="960120"/>
            <a:ext cx="3063240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852160" y="1033272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141,708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852160" y="1618488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draws/year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760720" y="2240280"/>
            <a:ext cx="3063240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852160" y="2313432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188,928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852160" y="2898648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potential/year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3520440"/>
            <a:ext cx="3063240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852160" y="3593592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$5–6M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852160" y="4178808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Poor Quality (COPQ)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60720" y="4251960"/>
            <a:ext cx="3063240" cy="45720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0" y="4251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COPQ exceeds Hill Burton Act risk threshold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CONTEXT  ·  TriCore Reference Laboratories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605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416052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6012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TriCore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38404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1998, headquartered in Albuquerque, NM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Non-profit entity, ~$1.5B revenue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2,200+ employees across New Mexico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medical laboratory in New Mexico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Formed by merger of Presbyterian Healthcare, UNM Health Sciences, and The Reference Laboratory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scope: 12 Reference Lab locations, blood draw operations only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960120"/>
            <a:ext cx="41605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960120"/>
            <a:ext cx="4160520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96012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Performance Matters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92040" y="1463040"/>
            <a:ext cx="38404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Burton Act federal funding at risk ($5–8M/year)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Malpractice exposure ($50K minimum per case)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and overtime costs at 6% of operational budget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hospital throughput: 2–4% fewer patients served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length-of-stay cost: $1,100/unbilled day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5 outperformed other 11 labs — root cause unknown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DMAIC METHODOLOGY  ·  Operational Blueprint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82880" y="960120"/>
            <a:ext cx="1645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2880" y="960120"/>
            <a:ext cx="164592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960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508760"/>
            <a:ext cx="1463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history &amp; interviews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 (CTS)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charter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COPQ analysis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and timing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920240" y="960120"/>
            <a:ext cx="1645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920240" y="960120"/>
            <a:ext cx="1645920" cy="45720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0240" y="960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011680" y="1508760"/>
            <a:ext cx="1463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data collection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Sigma level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Gage R&amp;R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Signal-to-noise ratio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First-time yield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Spec/unit of measure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0" y="960120"/>
            <a:ext cx="1645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0" y="960120"/>
            <a:ext cx="1645920" cy="4572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960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749040" y="1508760"/>
            <a:ext cx="1463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C&amp;E matrix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FMEA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hypothesis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tools (T-Test)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 of interest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94960" y="960120"/>
            <a:ext cx="1645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94960" y="960120"/>
            <a:ext cx="1645920" cy="4572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960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0" y="1508760"/>
            <a:ext cx="1463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new approach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training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 experiments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policy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new SWI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new UCL/LCL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132320" y="960120"/>
            <a:ext cx="16459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0" y="960120"/>
            <a:ext cx="1645920" cy="45720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0" y="960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223760" y="1508760"/>
            <a:ext cx="1463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process baseline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management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implementation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project scope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goal tracking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driven by physician, hospital, lab, phlebotomist, and patient needs — led by senior management (Mr. Antonis, Director of Laboratory Services)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&amp; ANALYZE  ·  Root Cause Discovery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20624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420624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Lab Process Types Identified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463040"/>
            <a:ext cx="50292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48132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16824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A draws / Tech B processes (sequential hand-off)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2267712"/>
            <a:ext cx="50292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8600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B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2487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&amp; B both draw and process simultaneously (two lanes)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3072384"/>
            <a:ext cx="50292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072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C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3291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&amp; B draw, then process together toward end of shift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877056"/>
            <a:ext cx="502920" cy="50292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877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8953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D ★ (Best)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05840" y="4096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&amp; B draw, process at end of shift WITH receptionist support on Type 3 (Lab 5 — best performer)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960120"/>
            <a:ext cx="406908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960120"/>
            <a:ext cx="4069080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96012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from Process Maps &amp; Lean Analysis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92040" y="1463040"/>
            <a:ext cx="3794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 over-processing: manual check-in vs. kiosk or lab tech triage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draw/process split adds wait time vs. parallel two-lane flow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batching creates repeated over-processing across all labs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Receptionists NOT assisting with Type 3 labels — Lab 5 does this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lower spec limit — no accountability for minimum performance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Non-standard methods across labs drive inter-lab variance of 199–328 draws/week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waste: Transport, Wait Time, Over-processing, Defects all present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 ·  Statistical Approach &amp; Hypothesis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859536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05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Hypothesis (H₀)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38988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changes from adopting the Lab 5 process — receptionist support, two-lane workflow, and batch processing — will NOT be statistically significant.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2331720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2331720"/>
            <a:ext cx="2651760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246888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Tool Selected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" y="2926080"/>
            <a:ext cx="243230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Two-Sample T-Test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means of pre- and post-treatment performance in the same set of 30 randomly sampled labs. Selected over ANOVA and regression for its precision with paired pilot experiment design.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54680" y="2331720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2331720"/>
            <a:ext cx="2651760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4408" y="246888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Test Design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64408" y="2926080"/>
            <a:ext cx="243230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4, 8 &amp; 9 selected as pilot sites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random samples each: current process vs. Lab 5 process applied. Two days of training, four field observation days (Weeks 1 and 2). Minitab used for all statistical analysis.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331720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331720"/>
            <a:ext cx="2651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46888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44768" y="2926080"/>
            <a:ext cx="243230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Confidence Interval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 &lt; 0.05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Power validated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must extrapolate across all 11 underperforming labs before company-wide rollout is authorized.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 ·  Pilot Experiment Results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8595360" cy="777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Hypothesis REJECTED — All 3 pilot labs achieved statistically significant improvement at 95% confidence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920240"/>
            <a:ext cx="265176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920240"/>
            <a:ext cx="265176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920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4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72491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30.6 min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11480" y="32918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processing time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3493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47857"/>
                </a:solidFill>
              </a:rPr>
              <a:t>↓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11480" y="37490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9776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21.1 min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22960" y="4462272"/>
            <a:ext cx="1554480" cy="24688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462272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faster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154680" y="1920240"/>
            <a:ext cx="265176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154680" y="1920240"/>
            <a:ext cx="265176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54680" y="1920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8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29184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91840" y="272491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27.8 min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3291840" y="32918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processing time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91840" y="3493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47857"/>
                </a:solidFill>
              </a:rPr>
              <a:t>↓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291840" y="37490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91840" y="39776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20.9 min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3703320" y="4462272"/>
            <a:ext cx="1554480" cy="24688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3320" y="4462272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faster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1920240"/>
            <a:ext cx="265176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1920240"/>
            <a:ext cx="265176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35040" y="1920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9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17220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72200" y="272491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30.6 min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6172200" y="32918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processing time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172200" y="3493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47857"/>
                </a:solidFill>
              </a:rPr>
              <a:t>↓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172200" y="37490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72200" y="39776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21.1 min</a:t>
            </a:r>
            <a:endParaRPr lang="en-US" sz="2600" dirty="0"/>
          </a:p>
        </p:txBody>
      </p:sp>
      <p:sp>
        <p:nvSpPr>
          <p:cNvPr id="37" name="Shape 35"/>
          <p:cNvSpPr/>
          <p:nvPr/>
        </p:nvSpPr>
        <p:spPr>
          <a:xfrm>
            <a:off x="6583680" y="4462272"/>
            <a:ext cx="1554480" cy="246888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4462272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faster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&amp; OPERATIONAL IMPACT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914400"/>
          <a:ext cx="50292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577840" y="914400"/>
            <a:ext cx="32461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577840" y="914400"/>
            <a:ext cx="91440" cy="11430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98755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+17,892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76072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draws/year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all 12 labs (goal)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577840" y="2194560"/>
            <a:ext cx="32461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77840" y="2194560"/>
            <a:ext cx="91440" cy="114300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0" y="226771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$894,600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760720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revenue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per year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577840" y="3474720"/>
            <a:ext cx="32461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577840" y="3474720"/>
            <a:ext cx="91440" cy="1143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60720" y="354787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 → 2.9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5760720" y="4114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Sigma improvement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(Stretch: 3.2)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74320" y="443484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$50/draw revenue basis  ·  288 operating days/year/lab  ·  12 laboratories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 ·  Sustaining the Improvement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69748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26974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96012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Work Instructions (SWI)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508760"/>
            <a:ext cx="2423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Lab 5 process as enterprise standard for all 12 labs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 duties redefined to include Type 3 label support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followed consistently — materials stored identically across sites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handbook updated with new hiring requirements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172968" y="960120"/>
            <a:ext cx="269748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172968" y="960120"/>
            <a:ext cx="2697480" cy="4572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82696" y="96012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&amp; Visual Management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508760"/>
            <a:ext cx="2423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Workstations labeled and organized per new standard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indicators visible at each station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data posted and updated daily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job aids for each role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71616" y="960120"/>
            <a:ext cx="269748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71616" y="960120"/>
            <a:ext cx="2697480" cy="45720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81344" y="96012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Stretch Goals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08776" y="1508760"/>
            <a:ext cx="2423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back office processing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 scheduling (Phase 2 project)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kiosks; migrate receptionists to phlebotomist roles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Quality Officer for field coaching and metric oversight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target: Lab 5 weekly high of 328 draws as new standard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657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ROLE &amp; SKILLS DEMONSTRATED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Lisa Lewandowski — LSSBB Practitioner &amp; Process Improvement Leader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8321040" cy="54864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258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was a real client engagement — actual data, real operations, validated conclusions. The same tools and methods applied here are what I bring to your organization.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4114800" cy="2377440"/>
          </a:xfrm>
          <a:prstGeom prst="rect">
            <a:avLst/>
          </a:prstGeom>
          <a:solidFill>
            <a:srgbClr val="2D3B7A"/>
          </a:solidFill>
          <a:ln w="12700">
            <a:solidFill>
              <a:srgbClr val="3D509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084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Contributions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450592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D0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full DMAIC methodology across all five phases — Define through Control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D0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180+ data points across 12 labs over 12 field observation days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D0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Participated in 3-lab pilot experiment using two-sample T-test (95% CI)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D0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Conducted root cause analysis: C&amp;E matrix, FMEA, process mapping, Lean waste review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D0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Contributed to findings presentation to Director of Laboratory Services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D0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SWI and employee handbook development for company-wide rollout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92040" y="2011680"/>
            <a:ext cx="3931920" cy="2377440"/>
          </a:xfrm>
          <a:prstGeom prst="rect">
            <a:avLst/>
          </a:prstGeom>
          <a:solidFill>
            <a:srgbClr val="2D3B7A"/>
          </a:solidFill>
          <a:ln w="12700">
            <a:solidFill>
              <a:srgbClr val="3D509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0" y="20848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Applied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0" y="24505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Management: </a:t>
            </a:r>
            <a:pPr indent="0" marL="0">
              <a:buNone/>
            </a:pPr>
            <a:r>
              <a:rPr lang="en-US" sz="1050" dirty="0">
                <a:solidFill>
                  <a:srgbClr val="D0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Charter, milestone planning, stakeholder management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0" y="2889504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Six Sigma: </a:t>
            </a:r>
            <a:pPr indent="0" marL="0">
              <a:buNone/>
            </a:pPr>
            <a:r>
              <a:rPr lang="en-US" sz="1050" dirty="0">
                <a:solidFill>
                  <a:srgbClr val="D0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DMAIC, SWI, 5S, VSM, C&amp;E, FMEA, Gage R&amp;R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0" y="332841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Analysis: </a:t>
            </a:r>
            <a:pPr indent="0" marL="0">
              <a:buNone/>
            </a:pPr>
            <a:r>
              <a:rPr lang="en-US" sz="1050" dirty="0">
                <a:solidFill>
                  <a:srgbClr val="D0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Two-sample T-test, Minitab, hypothesis testing, confidence intervals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0" y="37673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Improvement: </a:t>
            </a:r>
            <a:pPr indent="0" marL="0">
              <a:buNone/>
            </a:pPr>
            <a:r>
              <a:rPr lang="en-US" sz="1050" dirty="0">
                <a:solidFill>
                  <a:srgbClr val="D0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NVA analysis, swim lane mapping, waste elimination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0" y="4206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Management: </a:t>
            </a:r>
            <a:pPr indent="0" marL="0">
              <a:buNone/>
            </a:pPr>
            <a:r>
              <a:rPr lang="en-US" sz="1050" dirty="0">
                <a:solidFill>
                  <a:srgbClr val="D0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SOP development, company-wide rollout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4572000"/>
            <a:ext cx="8321040" cy="36576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5720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4-Week Client Engagement  ·  Siena Heights University PDC  ·  MBB Senseis: Dr. Ben Benson &amp; Mr. Phil White  ·  Q2 2024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LSSBB Portfolio: Optimizing Lab Operations</dc:title>
  <dc:subject>PptxGenJS Presentation</dc:subject>
  <dc:creator>Lisa Lewandowski</dc:creator>
  <cp:lastModifiedBy>Lisa Lewandowski</cp:lastModifiedBy>
  <cp:revision>1</cp:revision>
  <dcterms:created xsi:type="dcterms:W3CDTF">2026-06-05T17:45:25Z</dcterms:created>
  <dcterms:modified xsi:type="dcterms:W3CDTF">2026-06-05T17:45:25Z</dcterms:modified>
</cp:coreProperties>
</file>