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Chronic-Pattern Shifts</c:v>
                </c:pt>
              </c:strCache>
            </c:strRef>
          </c:tx>
          <c:spPr>
            <a:solidFill>
              <a:srgbClr val="C1603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5C7A7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Mon</c:v>
                  </c:pt>
                  <c:pt idx="1">
                    <c:v>Tue</c:v>
                  </c:pt>
                  <c:pt idx="2">
                    <c:v>Wed</c:v>
                  </c:pt>
                  <c:pt idx="3">
                    <c:v>Thu</c:v>
                  </c:pt>
                  <c:pt idx="4">
                    <c:v>Fri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57</c:v>
                </c:pt>
                <c:pt idx="1">
                  <c:v>76</c:v>
                </c:pt>
                <c:pt idx="2">
                  <c:v>71</c:v>
                </c:pt>
                <c:pt idx="3">
                  <c:v>34</c:v>
                </c:pt>
                <c:pt idx="4">
                  <c:v>54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5C7A7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7A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4ED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7A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Burnout Score</c:v>
                </c:pt>
              </c:strCache>
            </c:strRef>
          </c:tx>
          <c:spPr>
            <a:solidFill>
              <a:srgbClr val="0F98A0"/>
            </a:solidFill>
            <a:ln w="31750" cap="flat">
              <a:solidFill>
                <a:srgbClr val="0F98A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F98A0"/>
              </a:solidFill>
              <a:ln w="9525" cap="flat">
                <a:solidFill>
                  <a:srgbClr val="0F98A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24-Q4</c:v>
                  </c:pt>
                  <c:pt idx="1">
                    <c:v>25-Q1</c:v>
                  </c:pt>
                  <c:pt idx="2">
                    <c:v>25-Q2</c:v>
                  </c:pt>
                  <c:pt idx="3">
                    <c:v>25-Q3</c:v>
                  </c:pt>
                  <c:pt idx="4">
                    <c:v>25-Q4</c:v>
                  </c:pt>
                  <c:pt idx="5">
                    <c:v>26-Q1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51.6</c:v>
                </c:pt>
                <c:pt idx="1">
                  <c:v>51.1</c:v>
                </c:pt>
                <c:pt idx="2">
                  <c:v>49.8</c:v>
                </c:pt>
                <c:pt idx="3">
                  <c:v>49.2</c:v>
                </c:pt>
                <c:pt idx="4">
                  <c:v>45.3</c:v>
                </c:pt>
                <c:pt idx="5">
                  <c:v>44.5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7A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E4ED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7A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2011680"/>
            <a:ext cx="6400800" cy="6400800"/>
          </a:xfrm>
          <a:prstGeom prst="ellipse">
            <a:avLst/>
          </a:prstGeom>
          <a:solidFill>
            <a:srgbClr val="062A2E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206240"/>
            <a:ext cx="3840480" cy="3840480"/>
          </a:xfrm>
          <a:prstGeom prst="ellipse">
            <a:avLst/>
          </a:prstGeom>
          <a:solidFill>
            <a:srgbClr val="C1603C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96596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CLOSING THE ADHERENCE GAP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306324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9FBF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DMAIC Approach to Burnout &amp; Standard-of-Care</a:t>
            </a:r>
            <a:endParaRPr lang="en-US" sz="1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9FBF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 in Healthcare Teams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731520" y="420624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4ED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case study grounded in direct-care experience with medically complex, non-verbal individuals — prepared as candidate work for Senior Project Manager, Office of Well-Being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5989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Lisa Lewandowski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16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Burnout Isn’t Uniform Disengagement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defect isn’t a blanket lack of motivation — it’s variable adherence to standard work across a care team. That variation is measurable, root-cause-able, and fixable, and it carries a second cost: it erodes the staff who stay consistent.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880360"/>
            <a:ext cx="3429000" cy="2743200"/>
          </a:xfrm>
          <a:prstGeom prst="roundRect">
            <a:avLst>
              <a:gd name="adj" fmla="val 2667"/>
            </a:avLst>
          </a:prstGeom>
          <a:solidFill>
            <a:srgbClr val="E4EDEC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3200400"/>
            <a:ext cx="548640" cy="548640"/>
          </a:xfrm>
          <a:prstGeom prst="ellipse">
            <a:avLst/>
          </a:prstGeom>
          <a:solidFill>
            <a:srgbClr val="0B3D42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3200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393192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Students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4480560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under supervision; early exposure to team norms shapes long-term habits.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251960" y="2880360"/>
            <a:ext cx="3429000" cy="2743200"/>
          </a:xfrm>
          <a:prstGeom prst="roundRect">
            <a:avLst>
              <a:gd name="adj" fmla="val 2667"/>
            </a:avLst>
          </a:prstGeom>
          <a:solidFill>
            <a:srgbClr val="E4EDEC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0" y="3200400"/>
            <a:ext cx="548640" cy="548640"/>
          </a:xfrm>
          <a:prstGeom prst="ellipse">
            <a:avLst/>
          </a:prstGeom>
          <a:solidFill>
            <a:srgbClr val="0B3D42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0" y="3200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0" y="393192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Staff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72000" y="4480560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Nursing, allied health, and direct-care roles carrying daily execution load.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955280" y="2880360"/>
            <a:ext cx="3429000" cy="2743200"/>
          </a:xfrm>
          <a:prstGeom prst="roundRect">
            <a:avLst>
              <a:gd name="adj" fmla="val 2667"/>
            </a:avLst>
          </a:prstGeom>
          <a:solidFill>
            <a:srgbClr val="E4EDEC"/>
          </a:solidFill>
          <a:ln/>
        </p:spPr>
      </p:sp>
      <p:sp>
        <p:nvSpPr>
          <p:cNvPr id="16" name="Shape 14"/>
          <p:cNvSpPr/>
          <p:nvPr/>
        </p:nvSpPr>
        <p:spPr>
          <a:xfrm>
            <a:off x="8275320" y="3200400"/>
            <a:ext cx="548640" cy="548640"/>
          </a:xfrm>
          <a:prstGeom prst="ellipse">
            <a:avLst/>
          </a:prstGeom>
          <a:solidFill>
            <a:srgbClr val="0B3D42"/>
          </a:solidFill>
          <a:ln/>
        </p:spPr>
      </p:sp>
      <p:sp>
        <p:nvSpPr>
          <p:cNvPr id="17" name="Text 15"/>
          <p:cNvSpPr/>
          <p:nvPr/>
        </p:nvSpPr>
        <p:spPr>
          <a:xfrm>
            <a:off x="8275320" y="3200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75320" y="393192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Administration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275320" y="4480560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staffing model, advancement structure, and recognition follow-through.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16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— FIELD EVIDENCE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Day in Direct Care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773936"/>
            <a:ext cx="91440" cy="91440"/>
          </a:xfrm>
          <a:prstGeom prst="ellipse">
            <a:avLst/>
          </a:prstGeom>
          <a:solidFill>
            <a:srgbClr val="C1603C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636776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Medication timing, precisely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94360" y="2304288"/>
            <a:ext cx="91440" cy="91440"/>
          </a:xfrm>
          <a:prstGeom prst="ellipse">
            <a:avLst/>
          </a:prstGeom>
          <a:solidFill>
            <a:srgbClr val="C1603C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167128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Bathroom &amp; diapering needs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94360" y="2834640"/>
            <a:ext cx="91440" cy="91440"/>
          </a:xfrm>
          <a:prstGeom prst="ellipse">
            <a:avLst/>
          </a:prstGeom>
          <a:solidFill>
            <a:srgbClr val="C1603C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69748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Individualized feeding plans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94360" y="3364992"/>
            <a:ext cx="91440" cy="91440"/>
          </a:xfrm>
          <a:prstGeom prst="ellipse">
            <a:avLst/>
          </a:prstGeom>
          <a:solidFill>
            <a:srgbClr val="C1603C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227832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 / PT &amp; communication-device readiness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94360" y="3895344"/>
            <a:ext cx="91440" cy="91440"/>
          </a:xfrm>
          <a:prstGeom prst="ellipse">
            <a:avLst/>
          </a:prstGeom>
          <a:solidFill>
            <a:srgbClr val="C1603C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758184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Nursing, academic, emotional &amp; IEP coordination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94360" y="4425696"/>
            <a:ext cx="91440" cy="91440"/>
          </a:xfrm>
          <a:prstGeom prst="ellipse">
            <a:avLst/>
          </a:prstGeom>
          <a:solidFill>
            <a:srgbClr val="C1603C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4288536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Continual physical mobility and lifting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94360" y="5010912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of these switches between services throughout a single shift — the direct analog to a hospital unit’s task complexity.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09360" y="1691640"/>
            <a:ext cx="5349240" cy="4434840"/>
          </a:xfrm>
          <a:prstGeom prst="roundRect">
            <a:avLst>
              <a:gd name="adj" fmla="val 1649"/>
            </a:avLst>
          </a:prstGeom>
          <a:solidFill>
            <a:srgbClr val="0B3D42"/>
          </a:solidFill>
          <a:ln/>
        </p:spPr>
      </p:sp>
      <p:sp>
        <p:nvSpPr>
          <p:cNvPr id="18" name="Text 16"/>
          <p:cNvSpPr/>
          <p:nvPr/>
        </p:nvSpPr>
        <p:spPr>
          <a:xfrm>
            <a:off x="6675120" y="196596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6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GAP SHOWS UP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675120" y="24231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F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995160" y="242316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minutes late, 35 minutes early — same day, every week, paid for the full shift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675120" y="3081528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F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995160" y="308152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Skipped end-of-shift sanitizing &amp; organizing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675120" y="3739896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F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995160" y="3739896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gaps across pre-, during-, and post-shift phases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5257800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E4ED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 isn't just the unworked time — compliant staff absorb the coverage gap and the emotional, physical, and communicative strain of performing ‘unbothered’ while it keeps recurring.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16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to Collect, and From Where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457200" cy="457200"/>
          </a:xfrm>
          <a:prstGeom prst="ellipse">
            <a:avLst/>
          </a:prstGeom>
          <a:solidFill>
            <a:srgbClr val="0B3D4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234440" y="1682496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MBI / Mini-Z Survey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34440" y="1993392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burnout scale — exhaustion, depersonalization, accomplishment.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72200" y="1737360"/>
            <a:ext cx="457200" cy="457200"/>
          </a:xfrm>
          <a:prstGeom prst="ellipse">
            <a:avLst/>
          </a:prstGeom>
          <a:solidFill>
            <a:srgbClr val="0B3D42"/>
          </a:solidFill>
          <a:ln/>
        </p:spPr>
      </p:sp>
      <p:sp>
        <p:nvSpPr>
          <p:cNvPr id="9" name="Text 7"/>
          <p:cNvSpPr/>
          <p:nvPr/>
        </p:nvSpPr>
        <p:spPr>
          <a:xfrm>
            <a:off x="617220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0" y="1682496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Adherence Checklist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858000" y="1993392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Pre-, during-, and post-shift task sign-off, including documentation.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337560"/>
            <a:ext cx="457200" cy="457200"/>
          </a:xfrm>
          <a:prstGeom prst="ellipse">
            <a:avLst/>
          </a:prstGeom>
          <a:solidFill>
            <a:srgbClr val="0B3D42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34440" y="3282696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Interview Themes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34440" y="3593592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Qualitative root-cause data from departing staff.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72200" y="3337560"/>
            <a:ext cx="457200" cy="457200"/>
          </a:xfrm>
          <a:prstGeom prst="ellipse">
            <a:avLst/>
          </a:prstGeom>
          <a:solidFill>
            <a:srgbClr val="0B3D42"/>
          </a:solidFill>
          <a:ln/>
        </p:spPr>
      </p:sp>
      <p:sp>
        <p:nvSpPr>
          <p:cNvPr id="17" name="Text 15"/>
          <p:cNvSpPr/>
          <p:nvPr/>
        </p:nvSpPr>
        <p:spPr>
          <a:xfrm>
            <a:off x="617220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858000" y="3282696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Turnover &amp; Absenteeism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858000" y="3593592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Lagging indicators, tracked by unit and rotation cadence.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937760"/>
            <a:ext cx="457200" cy="457200"/>
          </a:xfrm>
          <a:prstGeom prst="ellipse">
            <a:avLst/>
          </a:prstGeom>
          <a:solidFill>
            <a:srgbClr val="0B3D42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937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234440" y="4882896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EHR After-Hours Logs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34440" y="5193792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proxy for documentation workload burden.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172200" y="4937760"/>
            <a:ext cx="457200" cy="457200"/>
          </a:xfrm>
          <a:prstGeom prst="ellipse">
            <a:avLst/>
          </a:prstGeom>
          <a:solidFill>
            <a:srgbClr val="0B3D42"/>
          </a:solidFill>
          <a:ln/>
        </p:spPr>
      </p:sp>
      <p:sp>
        <p:nvSpPr>
          <p:cNvPr id="25" name="Text 23"/>
          <p:cNvSpPr/>
          <p:nvPr/>
        </p:nvSpPr>
        <p:spPr>
          <a:xfrm>
            <a:off x="6172200" y="4937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858000" y="4882896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Incident Reports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858000" y="5193792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Workplace-violence exposure from aggressive, non-verbal patients.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16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— SEGMENTATION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Metric Cut by Rotation Cadence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Daily, weekly, and half-day staff rotation each impose a different cost — there is no single schedule that optimizes all three.</a:t>
            </a:r>
            <a:endParaRPr lang="en-US" sz="13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94560"/>
          <a:ext cx="10881360" cy="3291840"/>
        </p:xfrm>
        <a:graphic>
          <a:graphicData uri="http://schemas.openxmlformats.org/drawingml/2006/table">
            <a:tbl>
              <a:tblPr/>
              <a:tblGrid>
                <a:gridCol w="1828800"/>
                <a:gridCol w="3017520"/>
                <a:gridCol w="2743200"/>
                <a:gridCol w="3291840"/>
              </a:tblGrid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Rotation Type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4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Relearning Burden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4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Worker Fatigue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4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Continuity Impact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42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Highest — constant re-establishing of trust &amp; routine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Lowest accumulation per shift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Most disruptive for the person receiving care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Weekly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D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D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Compounds across full week before reset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D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 — predictable but long exposure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DEC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Half-Day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per handoff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— mid-shift recovery point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Highest handoff frequency — hardest on routine-dependent individuals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16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— SAMPLE FINDINGS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3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Six Quarters of Data Would Show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Pulled from the companion KPI dashboard's synthetic dataset — the same structure a real deployment would produce.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Chronic Pattern Concentrates Mid-Week</a:t>
            </a:r>
            <a:endParaRPr lang="en-US" sz="14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2331720"/>
          <a:ext cx="5120640" cy="2514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498348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staff repeat the same late/early combo on the same weekday, every week — see the dashboard's Chronic Pattern view.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943600" y="196596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Burnout Score Across Six Quarters</a:t>
            </a:r>
            <a:endParaRPr lang="en-US" sz="1400" dirty="0"/>
          </a:p>
        </p:txBody>
      </p:sp>
      <p:graphicFrame>
        <p:nvGraphicFramePr>
          <p:cNvPr id="9" name="Chart 1" descr=""/>
          <p:cNvGraphicFramePr/>
          <p:nvPr/>
        </p:nvGraphicFramePr>
        <p:xfrm>
          <a:off x="5943600" y="2331720"/>
          <a:ext cx="5394960" cy="2514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 6"/>
          <p:cNvSpPr/>
          <p:nvPr/>
        </p:nvSpPr>
        <p:spPr>
          <a:xfrm>
            <a:off x="5943600" y="498348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(checklist + tied recognition) launched 2025-Q4 — burnout fell from 51.6 to 44.5 in the two quarters since.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16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Root-Cause Branches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2057400"/>
          </a:xfrm>
          <a:prstGeom prst="roundRect">
            <a:avLst>
              <a:gd name="adj" fmla="val 3556"/>
            </a:avLst>
          </a:prstGeom>
          <a:solidFill>
            <a:srgbClr val="E4EDEC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65960"/>
            <a:ext cx="457200" cy="457200"/>
          </a:xfrm>
          <a:prstGeom prst="ellipse">
            <a:avLst/>
          </a:prstGeom>
          <a:solidFill>
            <a:srgbClr val="0F98A0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463040" y="1984248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 &amp; Staffing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22960" y="2560320"/>
            <a:ext cx="4800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Understaffing and rigid rotation models force constant task-switching across medical, developmental, and emotional needs.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72200" y="1691640"/>
            <a:ext cx="5349240" cy="2057400"/>
          </a:xfrm>
          <a:prstGeom prst="roundRect">
            <a:avLst>
              <a:gd name="adj" fmla="val 3556"/>
            </a:avLst>
          </a:prstGeom>
          <a:solidFill>
            <a:srgbClr val="E4EDEC"/>
          </a:solidFill>
          <a:ln/>
        </p:spPr>
      </p:sp>
      <p:sp>
        <p:nvSpPr>
          <p:cNvPr id="10" name="Shape 8"/>
          <p:cNvSpPr/>
          <p:nvPr/>
        </p:nvSpPr>
        <p:spPr>
          <a:xfrm>
            <a:off x="6446520" y="1965960"/>
            <a:ext cx="457200" cy="457200"/>
          </a:xfrm>
          <a:prstGeom prst="ellipse">
            <a:avLst/>
          </a:prstGeom>
          <a:solidFill>
            <a:srgbClr val="C1603C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086600" y="1984248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Accountability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446520" y="2560320"/>
            <a:ext cx="4800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consequence differential between staff who follow the standard and staff who arrive late, leave early, or skip closing tasks.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023360"/>
            <a:ext cx="5349240" cy="2057400"/>
          </a:xfrm>
          <a:prstGeom prst="roundRect">
            <a:avLst>
              <a:gd name="adj" fmla="val 3556"/>
            </a:avLst>
          </a:prstGeom>
          <a:solidFill>
            <a:srgbClr val="E4EDEC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4297680"/>
            <a:ext cx="457200" cy="457200"/>
          </a:xfrm>
          <a:prstGeom prst="ellipse">
            <a:avLst/>
          </a:prstGeom>
          <a:solidFill>
            <a:srgbClr val="6B4C95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297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463040" y="4315968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822960" y="4892040"/>
            <a:ext cx="4800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Low-cost motivators — food, massages, extra breaks — aren't consistently in place, and initiatives that do happen are often sprung last-minute rather than planned. Staff-organized traditions like potlucks work well on their own.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72200" y="4023360"/>
            <a:ext cx="5349240" cy="2057400"/>
          </a:xfrm>
          <a:prstGeom prst="roundRect">
            <a:avLst>
              <a:gd name="adj" fmla="val 3556"/>
            </a:avLst>
          </a:prstGeom>
          <a:solidFill>
            <a:srgbClr val="E4EDEC"/>
          </a:solidFill>
          <a:ln/>
        </p:spPr>
      </p:sp>
      <p:sp>
        <p:nvSpPr>
          <p:cNvPr id="20" name="Shape 18"/>
          <p:cNvSpPr/>
          <p:nvPr/>
        </p:nvSpPr>
        <p:spPr>
          <a:xfrm>
            <a:off x="6446520" y="4297680"/>
            <a:ext cx="457200" cy="457200"/>
          </a:xfrm>
          <a:prstGeom prst="ellipse">
            <a:avLst/>
          </a:prstGeom>
          <a:solidFill>
            <a:srgbClr val="A9832E"/>
          </a:solidFill>
          <a:ln/>
        </p:spPr>
      </p:sp>
      <p:sp>
        <p:nvSpPr>
          <p:cNvPr id="21" name="Text 19"/>
          <p:cNvSpPr/>
          <p:nvPr/>
        </p:nvSpPr>
        <p:spPr>
          <a:xfrm>
            <a:off x="6446520" y="4297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086600" y="4315968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6446520" y="4892040"/>
            <a:ext cx="4800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face physical risk from aggressive, often non-verbal individuals — fear layered directly on top of physical and emotional load.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2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4389120"/>
            <a:ext cx="5486400" cy="5486400"/>
          </a:xfrm>
          <a:prstGeom prst="ellipse">
            <a:avLst/>
          </a:prstGeom>
          <a:solidFill>
            <a:srgbClr val="0B3D4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FBF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— THE CORE INSIGHT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920240"/>
            <a:ext cx="10698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Inconsistent adherence is both a </a:t>
            </a:r>
            <a:pPr indent="0" marL="0">
              <a:lnSpc>
                <a:spcPct val="130000"/>
              </a:lnSpc>
              <a:buNone/>
            </a:pPr>
            <a:r>
              <a:rPr lang="en-US" sz="3800" b="1" dirty="0">
                <a:solidFill>
                  <a:srgbClr val="C16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SYMPTOM</a:t>
            </a:r>
            <a:pPr indent="0" marL="0">
              <a:lnSpc>
                <a:spcPct val="13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of burnout and a </a:t>
            </a:r>
            <a:pPr indent="0" marL="0">
              <a:lnSpc>
                <a:spcPct val="130000"/>
              </a:lnSpc>
              <a:buNone/>
            </a:pPr>
            <a:r>
              <a:rPr lang="en-US" sz="3800" b="1" dirty="0">
                <a:solidFill>
                  <a:srgbClr val="C16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CAUSE</a:t>
            </a:r>
            <a:pPr indent="0" marL="0">
              <a:lnSpc>
                <a:spcPct val="13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of it.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40080" y="4023360"/>
            <a:ext cx="8961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900" i="1" dirty="0">
                <a:solidFill>
                  <a:srgbClr val="9FBF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without advancement, assignments, or pay tied to that consistency, there is no carrot to sustain the extra effort of the people already doing it right.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F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16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— EVIDENCE BASE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Literature Says the Same Thing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independent sources, two populations, forty years apart — converging on the same root cause.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429000" cy="2423160"/>
          </a:xfrm>
          <a:prstGeom prst="roundRect">
            <a:avLst>
              <a:gd name="adj" fmla="val 3019"/>
            </a:avLst>
          </a:prstGeom>
          <a:solidFill>
            <a:srgbClr val="E4EDEC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9456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16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 REVIEW · 2025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2496312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Baker, Chishty-Collins &amp; Gore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22960" y="2862072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studies · IDD adult-services staff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3246120"/>
            <a:ext cx="2880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Accomplishment scores fell below norms — despite lower exhaustion than general human-services staff. Recommends ongoing, standardized wellbeing monitoring.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51960" y="1965960"/>
            <a:ext cx="3429000" cy="2423160"/>
          </a:xfrm>
          <a:prstGeom prst="roundRect">
            <a:avLst>
              <a:gd name="adj" fmla="val 3019"/>
            </a:avLst>
          </a:prstGeom>
          <a:solidFill>
            <a:srgbClr val="E4EDEC"/>
          </a:solidFill>
          <a:ln/>
        </p:spPr>
      </p:sp>
      <p:sp>
        <p:nvSpPr>
          <p:cNvPr id="11" name="Text 9"/>
          <p:cNvSpPr/>
          <p:nvPr/>
        </p:nvSpPr>
        <p:spPr>
          <a:xfrm>
            <a:off x="4526280" y="219456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16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CROSS-SECTIONAL STUDY · 2025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26280" y="2496312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Alexaki et al.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526280" y="2862072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114 special education teachers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26280" y="3246120"/>
            <a:ext cx="2880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Employment stability was the strongest predictor of burnout. Recommends profile-specific interventions, not generic wellness programs.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955280" y="1965960"/>
            <a:ext cx="3429000" cy="2423160"/>
          </a:xfrm>
          <a:prstGeom prst="roundRect">
            <a:avLst>
              <a:gd name="adj" fmla="val 3019"/>
            </a:avLst>
          </a:prstGeom>
          <a:solidFill>
            <a:srgbClr val="E4EDEC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0" y="219456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16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FOUNDATIONAL PAPER · 1985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229600" y="2496312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Frith &amp; Mims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229600" y="2862072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education paraprofessionals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0" y="3246120"/>
            <a:ext cx="2880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stagnation and lack of career advancement as burnout drivers — four decades ago, in your exact role.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572000"/>
            <a:ext cx="10881360" cy="1280160"/>
          </a:xfrm>
          <a:prstGeom prst="roundRect">
            <a:avLst>
              <a:gd name="adj" fmla="val 5714"/>
            </a:avLst>
          </a:prstGeom>
          <a:solidFill>
            <a:srgbClr val="0B3D42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475488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16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CONVERGENT FINDING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22960" y="5047488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three — two populations, forty years apart — low Personal Accomplishment and lack of career advancement is the more consistent burnout driver, not raw exhaustion. That is exactly why the Tiered Advancement / Care Ladder proposal, ahead in Improve, targets growth and recognition — not just workload relief.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48640" y="596188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 of the evidence: no existing study covers this exact population — non-verbal, multiply disabled individuals ages 3–26. Findings are extrapolated from adjacent IDD-services and special-education research.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16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— LOW COST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3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Initiatives That Change Behavior Now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457200" cy="457200"/>
          </a:xfrm>
          <a:prstGeom prst="ellipse">
            <a:avLst/>
          </a:prstGeom>
          <a:solidFill>
            <a:srgbClr val="C1603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234440" y="1682496"/>
            <a:ext cx="10195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End-of-Shift Checklist, Visibly Signed Off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34440" y="1993392"/>
            <a:ext cx="10195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an ambiguous, personal resentment into an objective, shared artifact — the checklist judges the work, not the coworker.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633472"/>
            <a:ext cx="457200" cy="457200"/>
          </a:xfrm>
          <a:prstGeom prst="ellipse">
            <a:avLst/>
          </a:prstGeom>
          <a:solidFill>
            <a:srgbClr val="C1603C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633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34440" y="2578608"/>
            <a:ext cx="10195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 Tied to Consistency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34440" y="2889504"/>
            <a:ext cx="10195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Front-row parking, first pick of next schedule — earned by the adherence trend, not handed out uniformly.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529584"/>
            <a:ext cx="457200" cy="457200"/>
          </a:xfrm>
          <a:prstGeom prst="ellipse">
            <a:avLst/>
          </a:prstGeom>
          <a:solidFill>
            <a:srgbClr val="C1603C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5295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34440" y="3474720"/>
            <a:ext cx="10195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the Peer-Led Potluck Tradition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34440" y="3785616"/>
            <a:ext cx="10195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staff-organized and already works — formalize a regular cadence rather than letting leadership take it over or let it lapse.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425696"/>
            <a:ext cx="457200" cy="457200"/>
          </a:xfrm>
          <a:prstGeom prst="ellipse">
            <a:avLst/>
          </a:prstGeom>
          <a:solidFill>
            <a:srgbClr val="C1603C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4256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34440" y="4370832"/>
            <a:ext cx="10195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Rounding &amp; Spot Checks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34440" y="4681728"/>
            <a:ext cx="10195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Brief, regular presence that makes standards visible without feeling punitive.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5321808"/>
            <a:ext cx="457200" cy="457200"/>
          </a:xfrm>
          <a:prstGeom prst="ellipse">
            <a:avLst/>
          </a:prstGeom>
          <a:solidFill>
            <a:srgbClr val="C1603C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5321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234440" y="5266944"/>
            <a:ext cx="10195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Accountability Huddles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34440" y="5577840"/>
            <a:ext cx="10195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Short, structured team check-ins — social visibility sustains standards better than management policing alone.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16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— HIGHER COST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Durable Carrot: Tie Growth to Consistency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0B3D42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965960"/>
            <a:ext cx="548640" cy="548640"/>
          </a:xfrm>
          <a:prstGeom prst="ellipse">
            <a:avLst/>
          </a:prstGeom>
          <a:solidFill>
            <a:srgbClr val="C1603C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00200" y="187452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Tiered Advancement / Care Ladder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600200" y="2286000"/>
            <a:ext cx="950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4ED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Specialized assignments, additional hours, and pay steps explicitly tied to demonstrated adherence and safety competence — not tenure alone. This is the lever that makes consistency worth sustaining for years, not weeks.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483864"/>
            <a:ext cx="109728" cy="109728"/>
          </a:xfrm>
          <a:prstGeom prst="ellipse">
            <a:avLst/>
          </a:prstGeom>
          <a:solidFill>
            <a:srgbClr val="C1603C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355848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4-Day Work Week + Dedicated 5th-Day Coverage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22960" y="3721608"/>
            <a:ext cx="5074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consistent part-time staffer covers the 5th day — protects worker recovery and continuity of care together.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72200" y="3483864"/>
            <a:ext cx="109728" cy="109728"/>
          </a:xfrm>
          <a:prstGeom prst="ellipse">
            <a:avLst/>
          </a:prstGeom>
          <a:solidFill>
            <a:srgbClr val="C1603C"/>
          </a:solidFill>
          <a:ln/>
        </p:spPr>
      </p:sp>
      <p:sp>
        <p:nvSpPr>
          <p:cNvPr id="13" name="Text 11"/>
          <p:cNvSpPr/>
          <p:nvPr/>
        </p:nvSpPr>
        <p:spPr>
          <a:xfrm>
            <a:off x="6446520" y="3355848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Staffing Ratio Increases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446520" y="3721608"/>
            <a:ext cx="5074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largest lever on workload-driven exhaustion.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4901184"/>
            <a:ext cx="109728" cy="109728"/>
          </a:xfrm>
          <a:prstGeom prst="ellipse">
            <a:avLst/>
          </a:prstGeom>
          <a:solidFill>
            <a:srgbClr val="C1603C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773168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&amp; AAC-Device Support Tools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22960" y="5138928"/>
            <a:ext cx="5074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after-hours charting burden and communication friction with non-verbal individuals.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172200" y="4901184"/>
            <a:ext cx="109728" cy="109728"/>
          </a:xfrm>
          <a:prstGeom prst="ellipse">
            <a:avLst/>
          </a:prstGeom>
          <a:solidFill>
            <a:srgbClr val="C1603C"/>
          </a:solidFill>
          <a:ln/>
        </p:spPr>
      </p:sp>
      <p:sp>
        <p:nvSpPr>
          <p:cNvPr id="19" name="Text 17"/>
          <p:cNvSpPr/>
          <p:nvPr/>
        </p:nvSpPr>
        <p:spPr>
          <a:xfrm>
            <a:off x="6446520" y="4773168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Expanded EAP &amp; Mental Health Benefits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446520" y="5138928"/>
            <a:ext cx="5074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support with no productivity clawback.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16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— PILOT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Before Scaling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743200"/>
            <a:ext cx="2377440" cy="1737360"/>
          </a:xfrm>
          <a:prstGeom prst="roundRect">
            <a:avLst>
              <a:gd name="adj" fmla="val 4211"/>
            </a:avLst>
          </a:prstGeom>
          <a:solidFill>
            <a:srgbClr val="0B3D4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90779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16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31520" y="35204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Pilot Unit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31520" y="3886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FBF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team, defined boundary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944368" y="3337560"/>
            <a:ext cx="283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16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246120" y="2743200"/>
            <a:ext cx="2377440" cy="1737360"/>
          </a:xfrm>
          <a:prstGeom prst="roundRect">
            <a:avLst>
              <a:gd name="adj" fmla="val 4211"/>
            </a:avLst>
          </a:prstGeom>
          <a:solidFill>
            <a:srgbClr val="E4EDEC"/>
          </a:solidFill>
          <a:ln/>
        </p:spPr>
      </p:sp>
      <p:sp>
        <p:nvSpPr>
          <p:cNvPr id="10" name="Text 8"/>
          <p:cNvSpPr/>
          <p:nvPr/>
        </p:nvSpPr>
        <p:spPr>
          <a:xfrm>
            <a:off x="3246120" y="290779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B3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429000" y="35204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90-Day Trial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429000" y="3886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+ tied recognition live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641848" y="3337560"/>
            <a:ext cx="283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16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5943600" y="2743200"/>
            <a:ext cx="2377440" cy="1737360"/>
          </a:xfrm>
          <a:prstGeom prst="roundRect">
            <a:avLst>
              <a:gd name="adj" fmla="val 4211"/>
            </a:avLst>
          </a:prstGeom>
          <a:solidFill>
            <a:srgbClr val="0B3D42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0" y="290779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16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126480" y="35204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vs. Control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126480" y="3886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FBF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Adherence rate &amp; burnout score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339328" y="3337560"/>
            <a:ext cx="283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16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8641080" y="2743200"/>
            <a:ext cx="2377440" cy="1737360"/>
          </a:xfrm>
          <a:prstGeom prst="roundRect">
            <a:avLst>
              <a:gd name="adj" fmla="val 4211"/>
            </a:avLst>
          </a:prstGeom>
          <a:solidFill>
            <a:srgbClr val="E4EDEC"/>
          </a:solidFill>
          <a:ln/>
        </p:spPr>
      </p:sp>
      <p:sp>
        <p:nvSpPr>
          <p:cNvPr id="20" name="Text 18"/>
          <p:cNvSpPr/>
          <p:nvPr/>
        </p:nvSpPr>
        <p:spPr>
          <a:xfrm>
            <a:off x="8641080" y="290779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B3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8823960" y="35204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or Iterate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8823960" y="3886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backed by data, not instinct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16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— METRICS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Leadership Sees</a:t>
            </a:r>
            <a:endParaRPr lang="en-US" sz="3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0881360" cy="3474720"/>
        </p:xfrm>
        <a:graphic>
          <a:graphicData uri="http://schemas.openxmlformats.org/drawingml/2006/table">
            <a:tbl>
              <a:tblPr/>
              <a:tblGrid>
                <a:gridCol w="3383280"/>
                <a:gridCol w="1463040"/>
                <a:gridCol w="3931920"/>
                <a:gridCol w="2103120"/>
              </a:tblGrid>
              <a:tr h="6949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Initiative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4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Tier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4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Impact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4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Feasibility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42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Checklist + Tied Recognition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 reduction in adherence-gap resentment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— pilot in 90 days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Tiered Advancement / Care Ladder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D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D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Durable, long-run retention lever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D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 — needs HR redesign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DEC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4-Day Week + 5th-Day Coverage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Cuts peak fatigue, preserves continuity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 — budget-dependent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Staffing Ratio Increase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D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D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Largest reduction in workload exhaustion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D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— requires capital approval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DE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16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— SUSTAINING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3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System Only Works If It’s Used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457200" cy="457200"/>
          </a:xfrm>
          <a:prstGeom prst="ellipse">
            <a:avLst/>
          </a:prstGeom>
          <a:solidFill>
            <a:srgbClr val="0B3D4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234440" y="1728216"/>
            <a:ext cx="10195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Quarterly Review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34440" y="2039112"/>
            <a:ext cx="10195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recurring, calendared look at adherence and burnout trend data — not an ad hoc check.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697480"/>
            <a:ext cx="457200" cy="457200"/>
          </a:xfrm>
          <a:prstGeom prst="ellipse">
            <a:avLst/>
          </a:prstGeom>
          <a:solidFill>
            <a:srgbClr val="0B3D42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34440" y="2642616"/>
            <a:ext cx="10195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Follow-Through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34440" y="2953512"/>
            <a:ext cx="10195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recognition initiatives have to actually happen, consistently, once introduced — inconsistent follow-through erodes trust faster than never introducing them.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611880"/>
            <a:ext cx="457200" cy="457200"/>
          </a:xfrm>
          <a:prstGeom prst="ellipse">
            <a:avLst/>
          </a:prstGeom>
          <a:solidFill>
            <a:srgbClr val="0B3D42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34440" y="3557016"/>
            <a:ext cx="10195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Visibility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34440" y="3867912"/>
            <a:ext cx="10195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visible to the team itself, not only management — peer awareness sustains standards longer than policing.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526280"/>
            <a:ext cx="457200" cy="457200"/>
          </a:xfrm>
          <a:prstGeom prst="ellipse">
            <a:avLst/>
          </a:prstGeom>
          <a:solidFill>
            <a:srgbClr val="0B3D42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526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34440" y="4471416"/>
            <a:ext cx="10195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Trend-Based Escalation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34440" y="4782312"/>
            <a:ext cx="10195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on a pattern, not a single bad day — keeps the system fair, not punitive.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5532120"/>
            <a:ext cx="10881360" cy="685800"/>
          </a:xfrm>
          <a:prstGeom prst="roundRect">
            <a:avLst>
              <a:gd name="adj" fmla="val 8000"/>
            </a:avLst>
          </a:prstGeom>
          <a:solidFill>
            <a:srgbClr val="E4EDEC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553212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checklist nobody reviews becomes theater in about three weeks.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3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2286000"/>
            <a:ext cx="5486400" cy="5486400"/>
          </a:xfrm>
          <a:prstGeom prst="ellipse">
            <a:avLst/>
          </a:prstGeom>
          <a:solidFill>
            <a:srgbClr val="062A2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FBF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 Demonstrated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2048256"/>
            <a:ext cx="109728" cy="109728"/>
          </a:xfrm>
          <a:prstGeom prst="ellipse">
            <a:avLst/>
          </a:prstGeom>
          <a:solidFill>
            <a:srgbClr val="C1603C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11096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Management Across Clinical, Admin &amp; Student Populations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26480" y="2048256"/>
            <a:ext cx="109728" cy="109728"/>
          </a:xfrm>
          <a:prstGeom prst="ellipse">
            <a:avLst/>
          </a:prstGeom>
          <a:solidFill>
            <a:srgbClr val="C1603C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0" y="1911096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DMAIC Methodology (Define → Measure → Analyze → Improve → Control)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642616"/>
            <a:ext cx="109728" cy="109728"/>
          </a:xfrm>
          <a:prstGeom prst="ellipse">
            <a:avLst/>
          </a:prstGeom>
          <a:solidFill>
            <a:srgbClr val="C1603C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505456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&amp; Metric Design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26480" y="2642616"/>
            <a:ext cx="109728" cy="109728"/>
          </a:xfrm>
          <a:prstGeom prst="ellipse">
            <a:avLst/>
          </a:prstGeom>
          <a:solidFill>
            <a:srgbClr val="C1603C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0" y="2505456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Root-Cause Analysis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236976"/>
            <a:ext cx="109728" cy="109728"/>
          </a:xfrm>
          <a:prstGeom prst="ellipse">
            <a:avLst/>
          </a:prstGeom>
          <a:solidFill>
            <a:srgbClr val="C1603C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099816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Management &amp; Pilot Design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26480" y="3236976"/>
            <a:ext cx="109728" cy="109728"/>
          </a:xfrm>
          <a:prstGeom prst="ellipse">
            <a:avLst/>
          </a:prstGeom>
          <a:solidFill>
            <a:srgbClr val="C1603C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0" y="3099816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/ ROI Modeling for Leadership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831336"/>
            <a:ext cx="109728" cy="109728"/>
          </a:xfrm>
          <a:prstGeom prst="ellipse">
            <a:avLst/>
          </a:prstGeom>
          <a:solidFill>
            <a:srgbClr val="C1603C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3694176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Sustainability Design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126480" y="3831336"/>
            <a:ext cx="109728" cy="109728"/>
          </a:xfrm>
          <a:prstGeom prst="ellipse">
            <a:avLst/>
          </a:prstGeom>
          <a:solidFill>
            <a:srgbClr val="C1603C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0" y="3694176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Direct-Care Domain Expertise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4846320"/>
            <a:ext cx="10881360" cy="777240"/>
          </a:xfrm>
          <a:prstGeom prst="roundRect">
            <a:avLst>
              <a:gd name="adj" fmla="val 7059"/>
            </a:avLst>
          </a:prstGeom>
          <a:solidFill>
            <a:srgbClr val="062A2E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4956048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C16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COMPANION TOOL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22960" y="52303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4ED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healthcare-burnout-kpi-dashboard/ — a working Streamlit KPI dashboard operationalizing this case study's Measure phase, built on the same four-driver framework.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48640" y="58064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FBF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as candidate case-study work for Senior Project Manager, Office of Well-Being — Michigan Medicine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48640" y="62636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Lisa Lewandowski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2026-07-17T04:23:49Z</dcterms:created>
  <dcterms:modified xsi:type="dcterms:W3CDTF">2026-07-17T04:23:49Z</dcterms:modified>
</cp:coreProperties>
</file>